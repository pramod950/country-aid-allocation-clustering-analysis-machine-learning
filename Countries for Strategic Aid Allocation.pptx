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20D694-3841-43DF-9240-178DE01C1F3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3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0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9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8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47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94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5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7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4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0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5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6C270-1E07-4524-9577-9B4B2B37F38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ACF49-31E3-44A8-A726-17121FFCE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32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9497" y="0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Clustering of Countries for Strategic Aid Allocation</a:t>
            </a:r>
            <a:endParaRPr lang="en-IN" sz="4800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A Data-Driven Approach to Identify Countries in Need of Aid</a:t>
            </a:r>
            <a:endParaRPr lang="en-IN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2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215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Problem Statement</a:t>
            </a:r>
            <a:endParaRPr lang="en-IN" sz="40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2155"/>
            <a:ext cx="10515600" cy="5444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 smtClean="0">
                <a:solidFill>
                  <a:schemeClr val="accent5">
                    <a:lumMod val="50000"/>
                  </a:schemeClr>
                </a:solidFill>
              </a:rPr>
              <a:t>Business Problem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GIVE Foundation is an international humanitarian NGO working to reduce poverty and provide support to underdeveloped countries.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Recently, the organization raised $10 million through funding programs.</a:t>
            </a:r>
            <a:br>
              <a:rPr lang="en-US" sz="2400" dirty="0" smtClean="0">
                <a:solidFill>
                  <a:srgbClr val="002060"/>
                </a:solidFill>
              </a:rPr>
            </a:br>
            <a:r>
              <a:rPr lang="en-US" sz="2400" dirty="0" smtClean="0">
                <a:solidFill>
                  <a:srgbClr val="002060"/>
                </a:solidFill>
              </a:rPr>
              <a:t>The CEO needs to determine which countries should receive priority aid.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However, identifying the countries most in need is challenging due to: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>
                <a:solidFill>
                  <a:srgbClr val="002060"/>
                </a:solidFill>
              </a:rPr>
              <a:t> Differences in economic development</a:t>
            </a:r>
            <a:endParaRPr lang="en-US" sz="2400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>
                <a:solidFill>
                  <a:srgbClr val="002060"/>
                </a:solidFill>
              </a:rPr>
              <a:t>Variation in health conditions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>
                <a:solidFill>
                  <a:srgbClr val="002060"/>
                </a:solidFill>
              </a:rPr>
              <a:t>Multiple socio-economic indicators</a:t>
            </a:r>
            <a:endParaRPr lang="en-US" sz="26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chemeClr val="accent5">
                    <a:lumMod val="50000"/>
                  </a:schemeClr>
                </a:solidFill>
              </a:rPr>
              <a:t>Goal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Use data-driven analysis to categorize countries based on development indicators and identify those in urgent need of aid.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2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6753"/>
            <a:ext cx="10515600" cy="74458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110342"/>
            <a:ext cx="10515600" cy="5432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>
                    <a:lumMod val="50000"/>
                  </a:schemeClr>
                </a:solidFill>
              </a:rPr>
              <a:t>Objective of the Analysis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 objective of this project is to identify countries that require urgent humanitarian assistance using clustering techniques</a:t>
            </a:r>
            <a:r>
              <a:rPr lang="en-US" sz="2400" dirty="0" smtClean="0">
                <a:solidFill>
                  <a:srgbClr val="002060"/>
                </a:solidFill>
              </a:rPr>
              <a:t>.</a:t>
            </a:r>
            <a:endParaRPr lang="en-US" sz="1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chemeClr val="accent5">
                    <a:lumMod val="50000"/>
                  </a:schemeClr>
                </a:solidFill>
              </a:rPr>
              <a:t>Key goals: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</a:rPr>
              <a:t>Analyze </a:t>
            </a:r>
            <a:r>
              <a:rPr lang="en-US" dirty="0">
                <a:solidFill>
                  <a:srgbClr val="002060"/>
                </a:solidFill>
              </a:rPr>
              <a:t>socio-economic and health indicators of </a:t>
            </a:r>
            <a:r>
              <a:rPr lang="en-US" dirty="0" smtClean="0">
                <a:solidFill>
                  <a:srgbClr val="002060"/>
                </a:solidFill>
              </a:rPr>
              <a:t>countries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</a:rPr>
              <a:t>Group </a:t>
            </a:r>
            <a:r>
              <a:rPr lang="en-US" dirty="0">
                <a:solidFill>
                  <a:srgbClr val="002060"/>
                </a:solidFill>
              </a:rPr>
              <a:t>similar countries using clustering </a:t>
            </a:r>
            <a:r>
              <a:rPr lang="en-US" dirty="0" smtClean="0">
                <a:solidFill>
                  <a:srgbClr val="002060"/>
                </a:solidFill>
              </a:rPr>
              <a:t>algorithms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</a:rPr>
              <a:t>Identify </a:t>
            </a:r>
            <a:r>
              <a:rPr lang="en-US" dirty="0">
                <a:solidFill>
                  <a:srgbClr val="002060"/>
                </a:solidFill>
              </a:rPr>
              <a:t>the cluster representing least developed </a:t>
            </a:r>
            <a:r>
              <a:rPr lang="en-US" dirty="0" smtClean="0">
                <a:solidFill>
                  <a:srgbClr val="002060"/>
                </a:solidFill>
              </a:rPr>
              <a:t>countries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</a:rPr>
              <a:t>Provide </a:t>
            </a:r>
            <a:r>
              <a:rPr lang="en-US" dirty="0">
                <a:solidFill>
                  <a:srgbClr val="002060"/>
                </a:solidFill>
              </a:rPr>
              <a:t>a final list of countries that should receive priority </a:t>
            </a:r>
            <a:r>
              <a:rPr lang="en-US" dirty="0" smtClean="0">
                <a:solidFill>
                  <a:srgbClr val="002060"/>
                </a:solidFill>
              </a:rPr>
              <a:t>aid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This will help GIVE Foundation allocate the $10 million fund effectively and strategically.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986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683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Dataset</a:t>
            </a:r>
            <a:r>
              <a:rPr lang="en-IN" sz="4000" dirty="0" smtClean="0"/>
              <a:t> </a:t>
            </a:r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137" y="796835"/>
            <a:ext cx="10515600" cy="5380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 dataset contains socio-economic and health indicators of countries</a:t>
            </a:r>
            <a:r>
              <a:rPr lang="en-US" sz="2400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endParaRPr lang="en-US" sz="1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Total Countries: </a:t>
            </a:r>
            <a:r>
              <a:rPr lang="en-US" sz="2400" dirty="0" smtClean="0">
                <a:solidFill>
                  <a:srgbClr val="002060"/>
                </a:solidFill>
              </a:rPr>
              <a:t>167</a:t>
            </a:r>
          </a:p>
          <a:p>
            <a:pPr marL="0" indent="0">
              <a:buNone/>
            </a:pPr>
            <a:endParaRPr lang="en-US" sz="10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Important variables used in the analysis:</a:t>
            </a:r>
          </a:p>
          <a:p>
            <a:pPr>
              <a:spcBef>
                <a:spcPts val="0"/>
              </a:spcBef>
            </a:pP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GDP per capita (gdpp) – Economic productivity of a country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Income – Average income of citizens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Child Mortality (child_mort) – Number of child deaths under 5 years of age per 1000 births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Life Expectancy – Average lifespan of people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Total Fertility Rate – Average number of children per woman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Health </a:t>
            </a: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– </a:t>
            </a:r>
            <a:r>
              <a:rPr lang="en-US" sz="2600" dirty="0" smtClean="0">
                <a:solidFill>
                  <a:schemeClr val="accent5">
                    <a:lumMod val="50000"/>
                  </a:schemeClr>
                </a:solidFill>
              </a:rPr>
              <a:t>Healthcare investment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These indicators help measure the overall development level of each country.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92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377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770708"/>
            <a:ext cx="10515600" cy="5393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 following steps were performed to complete the analysis: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Data Inspection and Data Cleaning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Exploratory Data Analysis (EDA)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Outlier Analysis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Feature Scaling / Standardization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Clustering Model Implementation</a:t>
            </a:r>
          </a:p>
          <a:p>
            <a:pPr lvl="2"/>
            <a:r>
              <a:rPr lang="en-US" sz="2400" dirty="0">
                <a:solidFill>
                  <a:srgbClr val="002060"/>
                </a:solidFill>
              </a:rPr>
              <a:t>K-Means Clustering</a:t>
            </a:r>
          </a:p>
          <a:p>
            <a:pPr lvl="2"/>
            <a:r>
              <a:rPr lang="en-US" sz="2400" dirty="0">
                <a:solidFill>
                  <a:srgbClr val="002060"/>
                </a:solidFill>
              </a:rPr>
              <a:t>Hierarchical Clustering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Cluster Evaluation and Interpretation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Identification of Countries Requiring </a:t>
            </a:r>
            <a:r>
              <a:rPr lang="en-US" dirty="0" smtClean="0">
                <a:solidFill>
                  <a:srgbClr val="002060"/>
                </a:solidFill>
              </a:rPr>
              <a:t>Aid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This structured approach helped convert raw data into actionable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66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97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766" y="1142048"/>
            <a:ext cx="10515600" cy="525875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Exploratory Data Analysis was performed to understand the patterns in the data</a:t>
            </a:r>
            <a:r>
              <a:rPr lang="en-US" sz="2400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endParaRPr lang="en-US" sz="1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chemeClr val="accent5">
                    <a:lumMod val="50000"/>
                  </a:schemeClr>
                </a:solidFill>
              </a:rPr>
              <a:t>Key observations: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Countries </a:t>
            </a:r>
            <a:r>
              <a:rPr lang="en-US" sz="2400" dirty="0">
                <a:solidFill>
                  <a:srgbClr val="002060"/>
                </a:solidFill>
              </a:rPr>
              <a:t>with high GDP and income generally have low child </a:t>
            </a:r>
            <a:r>
              <a:rPr lang="en-US" sz="2400" dirty="0" smtClean="0">
                <a:solidFill>
                  <a:srgbClr val="002060"/>
                </a:solidFill>
              </a:rPr>
              <a:t>mortality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Countries </a:t>
            </a:r>
            <a:r>
              <a:rPr lang="en-US" sz="2400" dirty="0">
                <a:solidFill>
                  <a:srgbClr val="002060"/>
                </a:solidFill>
              </a:rPr>
              <a:t>with low GDP and low income tend to have higher child </a:t>
            </a:r>
            <a:r>
              <a:rPr lang="en-US" sz="2400" dirty="0" smtClean="0">
                <a:solidFill>
                  <a:srgbClr val="002060"/>
                </a:solidFill>
              </a:rPr>
              <a:t>mortality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Strong </a:t>
            </a:r>
            <a:r>
              <a:rPr lang="en-US" sz="2400" dirty="0">
                <a:solidFill>
                  <a:srgbClr val="002060"/>
                </a:solidFill>
              </a:rPr>
              <a:t>relationship observed between economic development and health indicators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85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214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Choosing the Number of Clusters</a:t>
            </a:r>
            <a:endParaRPr lang="en-IN" sz="40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2148"/>
            <a:ext cx="10515600" cy="599585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To determine the optimal number of clusters, the Elbow Method was used.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 Elbow Curve showed that the optimal value of K = 3.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This means the countries can be grouped into three distinct clusters based on development </a:t>
            </a:r>
            <a:r>
              <a:rPr lang="en-US" sz="2400" dirty="0" smtClean="0">
                <a:solidFill>
                  <a:srgbClr val="002060"/>
                </a:solidFill>
              </a:rPr>
              <a:t>levels.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Clusters </a:t>
            </a:r>
            <a:r>
              <a:rPr lang="en-US" sz="2400" dirty="0">
                <a:solidFill>
                  <a:srgbClr val="002060"/>
                </a:solidFill>
              </a:rPr>
              <a:t>represent: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Developed countries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Developing countries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Underdeveloped </a:t>
            </a:r>
            <a:r>
              <a:rPr lang="en-US" dirty="0">
                <a:solidFill>
                  <a:srgbClr val="002060"/>
                </a:solidFill>
              </a:rPr>
              <a:t>countries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777" y="2372809"/>
            <a:ext cx="5789023" cy="433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7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683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Clustering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6835"/>
            <a:ext cx="10515600" cy="538012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Two clustering techniques were applied: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K-Means </a:t>
            </a:r>
            <a:r>
              <a:rPr lang="en-US" sz="2600" b="1" dirty="0" smtClean="0">
                <a:solidFill>
                  <a:srgbClr val="002060"/>
                </a:solidFill>
              </a:rPr>
              <a:t>Clustering:</a:t>
            </a:r>
            <a:endParaRPr lang="en-US" sz="2600" b="1" dirty="0">
              <a:solidFill>
                <a:srgbClr val="002060"/>
              </a:solidFill>
            </a:endParaRPr>
          </a:p>
          <a:p>
            <a:r>
              <a:rPr lang="en-US" sz="2400" dirty="0" smtClean="0">
                <a:solidFill>
                  <a:srgbClr val="002060"/>
                </a:solidFill>
              </a:rPr>
              <a:t>Groups </a:t>
            </a:r>
            <a:r>
              <a:rPr lang="en-US" sz="2400" dirty="0">
                <a:solidFill>
                  <a:srgbClr val="002060"/>
                </a:solidFill>
              </a:rPr>
              <a:t>countries based on similarity in their socio-economic </a:t>
            </a:r>
            <a:r>
              <a:rPr lang="en-US" sz="2400" dirty="0" smtClean="0">
                <a:solidFill>
                  <a:srgbClr val="002060"/>
                </a:solidFill>
              </a:rPr>
              <a:t>indicators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Efficient </a:t>
            </a:r>
            <a:r>
              <a:rPr lang="en-US" sz="2400" dirty="0">
                <a:solidFill>
                  <a:srgbClr val="002060"/>
                </a:solidFill>
              </a:rPr>
              <a:t>for large </a:t>
            </a:r>
            <a:r>
              <a:rPr lang="en-US" sz="2400" dirty="0" smtClean="0">
                <a:solidFill>
                  <a:srgbClr val="002060"/>
                </a:solidFill>
              </a:rPr>
              <a:t>datasets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Provides </a:t>
            </a:r>
            <a:r>
              <a:rPr lang="en-US" sz="2400" dirty="0">
                <a:solidFill>
                  <a:srgbClr val="002060"/>
                </a:solidFill>
              </a:rPr>
              <a:t>clear cluster separation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Hierarchical </a:t>
            </a:r>
            <a:r>
              <a:rPr lang="en-US" sz="2600" b="1" dirty="0" smtClean="0">
                <a:solidFill>
                  <a:srgbClr val="002060"/>
                </a:solidFill>
              </a:rPr>
              <a:t>Clustering:</a:t>
            </a:r>
            <a:endParaRPr lang="en-US" sz="2600" b="1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Builds clusters step by </a:t>
            </a:r>
            <a:r>
              <a:rPr lang="en-US" sz="2400" dirty="0" smtClean="0">
                <a:solidFill>
                  <a:srgbClr val="002060"/>
                </a:solidFill>
              </a:rPr>
              <a:t>step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Uses </a:t>
            </a:r>
            <a:r>
              <a:rPr lang="en-US" sz="2400" dirty="0">
                <a:solidFill>
                  <a:srgbClr val="002060"/>
                </a:solidFill>
              </a:rPr>
              <a:t>dendrogram to visualize relationships between countries</a:t>
            </a:r>
          </a:p>
          <a:p>
            <a:pPr marL="0" indent="0">
              <a:buNone/>
            </a:pPr>
            <a:endParaRPr lang="en-US" sz="10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After </a:t>
            </a:r>
            <a:r>
              <a:rPr lang="en-US" sz="2400" dirty="0">
                <a:solidFill>
                  <a:srgbClr val="002060"/>
                </a:solidFill>
              </a:rPr>
              <a:t>evaluation, K-Means Clustering provided clearer and more interpretable clusters and was used for the final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36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233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Cluster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330"/>
            <a:ext cx="12192000" cy="616566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rgbClr val="002060"/>
                </a:solidFill>
              </a:rPr>
              <a:t>Cluster visualizations were created using key </a:t>
            </a:r>
            <a:endParaRPr lang="en-US" sz="2200" dirty="0" smtClean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 smtClean="0">
                <a:solidFill>
                  <a:srgbClr val="002060"/>
                </a:solidFill>
              </a:rPr>
              <a:t>development indicators</a:t>
            </a:r>
            <a:endParaRPr lang="en-US" sz="2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Scatter plots were created </a:t>
            </a:r>
            <a:r>
              <a:rPr lang="en-US" sz="2200" dirty="0" smtClean="0">
                <a:solidFill>
                  <a:srgbClr val="002060"/>
                </a:solidFill>
              </a:rPr>
              <a:t>for: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GDP </a:t>
            </a:r>
            <a:r>
              <a:rPr lang="en-US" sz="2000" dirty="0">
                <a:solidFill>
                  <a:srgbClr val="002060"/>
                </a:solidFill>
              </a:rPr>
              <a:t>vs </a:t>
            </a:r>
            <a:r>
              <a:rPr lang="en-US" sz="2000" dirty="0" smtClean="0">
                <a:solidFill>
                  <a:srgbClr val="002060"/>
                </a:solidFill>
              </a:rPr>
              <a:t>Income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GDP </a:t>
            </a:r>
            <a:r>
              <a:rPr lang="en-US" sz="2000" dirty="0">
                <a:solidFill>
                  <a:srgbClr val="002060"/>
                </a:solidFill>
              </a:rPr>
              <a:t>vs Child </a:t>
            </a:r>
            <a:r>
              <a:rPr lang="en-US" sz="2000" dirty="0" smtClean="0">
                <a:solidFill>
                  <a:srgbClr val="002060"/>
                </a:solidFill>
              </a:rPr>
              <a:t>Mortality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Income </a:t>
            </a:r>
            <a:r>
              <a:rPr lang="en-US" sz="2000" dirty="0">
                <a:solidFill>
                  <a:srgbClr val="002060"/>
                </a:solidFill>
              </a:rPr>
              <a:t>vs Child </a:t>
            </a:r>
            <a:r>
              <a:rPr lang="en-US" sz="2000" dirty="0" smtClean="0">
                <a:solidFill>
                  <a:srgbClr val="002060"/>
                </a:solidFill>
              </a:rPr>
              <a:t>Mortality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 smtClean="0">
                <a:solidFill>
                  <a:srgbClr val="002060"/>
                </a:solidFill>
              </a:rPr>
              <a:t>These </a:t>
            </a:r>
            <a:r>
              <a:rPr lang="en-US" sz="2200" dirty="0">
                <a:solidFill>
                  <a:srgbClr val="002060"/>
                </a:solidFill>
              </a:rPr>
              <a:t>visualizations clearly showed distinct </a:t>
            </a:r>
            <a:endParaRPr lang="en-US" sz="2200" dirty="0" smtClean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 smtClean="0">
                <a:solidFill>
                  <a:srgbClr val="002060"/>
                </a:solidFill>
              </a:rPr>
              <a:t>groups </a:t>
            </a:r>
            <a:r>
              <a:rPr lang="en-US" sz="2200" dirty="0">
                <a:solidFill>
                  <a:srgbClr val="002060"/>
                </a:solidFill>
              </a:rPr>
              <a:t>of countries based on development level.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</a:rPr>
              <a:t>Countries </a:t>
            </a:r>
            <a:r>
              <a:rPr lang="en-US" sz="2200" dirty="0" smtClean="0">
                <a:solidFill>
                  <a:srgbClr val="002060"/>
                </a:solidFill>
              </a:rPr>
              <a:t>with </a:t>
            </a:r>
            <a:r>
              <a:rPr lang="en-US" sz="2000" dirty="0" smtClean="0">
                <a:solidFill>
                  <a:srgbClr val="002060"/>
                </a:solidFill>
              </a:rPr>
              <a:t>Low GDP, Low income, High </a:t>
            </a:r>
            <a:r>
              <a:rPr lang="en-US" sz="2000" dirty="0">
                <a:solidFill>
                  <a:srgbClr val="002060"/>
                </a:solidFill>
              </a:rPr>
              <a:t>child mortality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366" y="535576"/>
            <a:ext cx="5673634" cy="28607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0479"/>
            <a:ext cx="6392092" cy="30782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092" y="3396344"/>
            <a:ext cx="5799908" cy="352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9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84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 </a:t>
            </a:r>
            <a:r>
              <a:rPr lang="en-US" sz="2400" dirty="0" smtClean="0">
                <a:solidFill>
                  <a:srgbClr val="002060"/>
                </a:solidFill>
              </a:rPr>
              <a:t>clustering </a:t>
            </a:r>
            <a:r>
              <a:rPr lang="en-US" sz="2400" dirty="0">
                <a:solidFill>
                  <a:srgbClr val="002060"/>
                </a:solidFill>
              </a:rPr>
              <a:t>model divided countries into three groups</a:t>
            </a:r>
            <a:r>
              <a:rPr lang="en-US" sz="2400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Countries </a:t>
            </a:r>
            <a:r>
              <a:rPr lang="en-US" sz="2400" dirty="0">
                <a:solidFill>
                  <a:srgbClr val="002060"/>
                </a:solidFill>
              </a:rPr>
              <a:t>in Cluster 2 are identified as requiring immediate humanitarian aid.</a:t>
            </a: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51851"/>
              </p:ext>
            </p:extLst>
          </p:nvPr>
        </p:nvGraphicFramePr>
        <p:xfrm>
          <a:off x="838199" y="1248796"/>
          <a:ext cx="9729651" cy="2670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36757">
                  <a:extLst>
                    <a:ext uri="{9D8B030D-6E8A-4147-A177-3AD203B41FA5}">
                      <a16:colId xmlns:a16="http://schemas.microsoft.com/office/drawing/2014/main" val="3453317009"/>
                    </a:ext>
                  </a:extLst>
                </a:gridCol>
                <a:gridCol w="4327627">
                  <a:extLst>
                    <a:ext uri="{9D8B030D-6E8A-4147-A177-3AD203B41FA5}">
                      <a16:colId xmlns:a16="http://schemas.microsoft.com/office/drawing/2014/main" val="2842263266"/>
                    </a:ext>
                  </a:extLst>
                </a:gridCol>
                <a:gridCol w="2965267">
                  <a:extLst>
                    <a:ext uri="{9D8B030D-6E8A-4147-A177-3AD203B41FA5}">
                      <a16:colId xmlns:a16="http://schemas.microsoft.com/office/drawing/2014/main" val="846121885"/>
                    </a:ext>
                  </a:extLst>
                </a:gridCol>
              </a:tblGrid>
              <a:tr h="63012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Cluster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Characteristics</a:t>
                      </a:r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Development Level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553960"/>
                  </a:ext>
                </a:extLst>
              </a:tr>
              <a:tr h="63012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Cluster 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Moderate GDP, moderate income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Developing Countries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2144"/>
                  </a:ext>
                </a:extLst>
              </a:tr>
              <a:tr h="63012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Cluster 1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High GDP, high income, low mortality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Developed Countries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840379"/>
                  </a:ext>
                </a:extLst>
              </a:tr>
              <a:tr h="77969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Cluster 2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Low GDP, low income, high child mortality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Underdeveloped Countries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05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79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521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Countries Identified for Priority Aid</a:t>
            </a:r>
            <a:endParaRPr lang="en-IN" sz="40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5211"/>
            <a:ext cx="10515600" cy="5301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Based on the clustering analysis, the following countries were identified as most in need of aid</a:t>
            </a:r>
            <a:r>
              <a:rPr lang="en-US" sz="2400" dirty="0" smtClean="0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These countries show low economic development and high child mortality rates, indicating urgent need for </a:t>
            </a:r>
            <a:r>
              <a:rPr lang="en-US" sz="2400" dirty="0" smtClean="0">
                <a:solidFill>
                  <a:srgbClr val="002060"/>
                </a:solidFill>
              </a:rPr>
              <a:t>support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86783"/>
              </p:ext>
            </p:extLst>
          </p:nvPr>
        </p:nvGraphicFramePr>
        <p:xfrm>
          <a:off x="1240971" y="1750422"/>
          <a:ext cx="9350104" cy="2264955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664823">
                  <a:extLst>
                    <a:ext uri="{9D8B030D-6E8A-4147-A177-3AD203B41FA5}">
                      <a16:colId xmlns:a16="http://schemas.microsoft.com/office/drawing/2014/main" val="510399907"/>
                    </a:ext>
                  </a:extLst>
                </a:gridCol>
                <a:gridCol w="2010229">
                  <a:extLst>
                    <a:ext uri="{9D8B030D-6E8A-4147-A177-3AD203B41FA5}">
                      <a16:colId xmlns:a16="http://schemas.microsoft.com/office/drawing/2014/main" val="1200796531"/>
                    </a:ext>
                  </a:extLst>
                </a:gridCol>
                <a:gridCol w="2337526">
                  <a:extLst>
                    <a:ext uri="{9D8B030D-6E8A-4147-A177-3AD203B41FA5}">
                      <a16:colId xmlns:a16="http://schemas.microsoft.com/office/drawing/2014/main" val="4102652527"/>
                    </a:ext>
                  </a:extLst>
                </a:gridCol>
                <a:gridCol w="2337526">
                  <a:extLst>
                    <a:ext uri="{9D8B030D-6E8A-4147-A177-3AD203B41FA5}">
                      <a16:colId xmlns:a16="http://schemas.microsoft.com/office/drawing/2014/main" val="302803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COUNTRY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GDPP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INCOME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CHILD_MORT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1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Haiti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1500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208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95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Sierra Leone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399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1220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160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47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Chad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897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1930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150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63379"/>
                  </a:ext>
                </a:extLst>
              </a:tr>
              <a:tr h="41075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Central African Republic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446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888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149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94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Mali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708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1870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137</a:t>
                      </a:r>
                      <a:endParaRPr lang="en-IN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48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83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84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Key Insights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838200" y="718456"/>
            <a:ext cx="10515600" cy="6139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Important insights from the analysis</a:t>
            </a:r>
            <a:r>
              <a:rPr lang="en-US" sz="2400" dirty="0" smtClean="0">
                <a:solidFill>
                  <a:srgbClr val="002060"/>
                </a:solidFill>
              </a:rPr>
              <a:t>:</a:t>
            </a:r>
            <a:endParaRPr lang="en-US" sz="1000" dirty="0">
              <a:solidFill>
                <a:srgbClr val="002060"/>
              </a:solidFill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Economic </a:t>
            </a:r>
            <a:r>
              <a:rPr lang="en-US" dirty="0">
                <a:solidFill>
                  <a:srgbClr val="002060"/>
                </a:solidFill>
              </a:rPr>
              <a:t>indicators strongly influence health </a:t>
            </a:r>
            <a:r>
              <a:rPr lang="en-US" dirty="0" smtClean="0">
                <a:solidFill>
                  <a:srgbClr val="002060"/>
                </a:solidFill>
              </a:rPr>
              <a:t>outcomes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Countries </a:t>
            </a:r>
            <a:r>
              <a:rPr lang="en-US" dirty="0">
                <a:solidFill>
                  <a:srgbClr val="002060"/>
                </a:solidFill>
              </a:rPr>
              <a:t>with low GDP and income suffer from higher child </a:t>
            </a:r>
            <a:r>
              <a:rPr lang="en-US" dirty="0" smtClean="0">
                <a:solidFill>
                  <a:srgbClr val="002060"/>
                </a:solidFill>
              </a:rPr>
              <a:t>mortality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Clustering </a:t>
            </a:r>
            <a:r>
              <a:rPr lang="en-US" dirty="0">
                <a:solidFill>
                  <a:srgbClr val="002060"/>
                </a:solidFill>
              </a:rPr>
              <a:t>effectively grouped countries with similar development </a:t>
            </a:r>
            <a:r>
              <a:rPr lang="en-US" dirty="0" smtClean="0">
                <a:solidFill>
                  <a:srgbClr val="002060"/>
                </a:solidFill>
              </a:rPr>
              <a:t>levels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A </a:t>
            </a:r>
            <a:r>
              <a:rPr lang="en-US" dirty="0">
                <a:solidFill>
                  <a:srgbClr val="002060"/>
                </a:solidFill>
              </a:rPr>
              <a:t>specific cluster of countries was identified as most vulnerable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Using data-driven methods helps reduce bias and improve aid allocation decisions.</a:t>
            </a:r>
          </a:p>
          <a:p>
            <a:pPr marL="0" indent="0" algn="ctr">
              <a:buNone/>
            </a:pPr>
            <a:r>
              <a:rPr lang="en-IN" sz="4000" b="1" dirty="0" smtClean="0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rPr>
              <a:t>Recommendations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Based on the analysis, the following recommendations are proposed: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Prioritize aid allocation to countries in the underdeveloped </a:t>
            </a:r>
            <a:r>
              <a:rPr lang="en-US" dirty="0" smtClean="0">
                <a:solidFill>
                  <a:srgbClr val="002060"/>
                </a:solidFill>
              </a:rPr>
              <a:t>cluster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Focus </a:t>
            </a:r>
            <a:r>
              <a:rPr lang="en-US" dirty="0">
                <a:solidFill>
                  <a:srgbClr val="002060"/>
                </a:solidFill>
              </a:rPr>
              <a:t>investments on healthcare, nutrition, and child welfare </a:t>
            </a:r>
            <a:r>
              <a:rPr lang="en-US" dirty="0" smtClean="0">
                <a:solidFill>
                  <a:srgbClr val="002060"/>
                </a:solidFill>
              </a:rPr>
              <a:t>programs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Support </a:t>
            </a:r>
            <a:r>
              <a:rPr lang="en-US" dirty="0">
                <a:solidFill>
                  <a:srgbClr val="002060"/>
                </a:solidFill>
              </a:rPr>
              <a:t>economic development initiatives in these </a:t>
            </a:r>
            <a:r>
              <a:rPr lang="en-US" dirty="0" smtClean="0">
                <a:solidFill>
                  <a:srgbClr val="002060"/>
                </a:solidFill>
              </a:rPr>
              <a:t>countries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Monitor </a:t>
            </a:r>
            <a:r>
              <a:rPr lang="en-US" dirty="0">
                <a:solidFill>
                  <a:srgbClr val="002060"/>
                </a:solidFill>
              </a:rPr>
              <a:t>improvements using socio-economic indicators over time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This approach will help GIVE Foundation maximize the impact of the $10 million aid fund.</a:t>
            </a:r>
          </a:p>
          <a:p>
            <a:pPr marL="0" indent="0">
              <a:buNone/>
            </a:pPr>
            <a:endParaRPr lang="en-IN" sz="2400" b="1" dirty="0" smtClean="0">
              <a:solidFill>
                <a:schemeClr val="accent5">
                  <a:lumMod val="50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2332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07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0709"/>
            <a:ext cx="10515600" cy="540625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This analysis used clustering techniques to categorize countries based on socio-economic and health </a:t>
            </a:r>
            <a:r>
              <a:rPr lang="en-US" sz="2400" dirty="0" smtClean="0">
                <a:solidFill>
                  <a:srgbClr val="002060"/>
                </a:solidFill>
              </a:rPr>
              <a:t>indicators.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The </a:t>
            </a:r>
            <a:r>
              <a:rPr lang="en-US" sz="2400" dirty="0">
                <a:solidFill>
                  <a:srgbClr val="002060"/>
                </a:solidFill>
              </a:rPr>
              <a:t>results successfully identified countries facing the most critical development </a:t>
            </a:r>
            <a:r>
              <a:rPr lang="en-US" sz="2400" dirty="0" smtClean="0">
                <a:solidFill>
                  <a:srgbClr val="002060"/>
                </a:solidFill>
              </a:rPr>
              <a:t>challenges.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Using </a:t>
            </a:r>
            <a:r>
              <a:rPr lang="en-US" sz="2400" dirty="0">
                <a:solidFill>
                  <a:srgbClr val="002060"/>
                </a:solidFill>
              </a:rPr>
              <a:t>this data-driven approach allows GIVE Foundation to: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Make </a:t>
            </a:r>
            <a:r>
              <a:rPr lang="en-US" dirty="0">
                <a:solidFill>
                  <a:srgbClr val="002060"/>
                </a:solidFill>
              </a:rPr>
              <a:t>strategic funding </a:t>
            </a:r>
            <a:r>
              <a:rPr lang="en-US" dirty="0" smtClean="0">
                <a:solidFill>
                  <a:srgbClr val="002060"/>
                </a:solidFill>
              </a:rPr>
              <a:t>decisions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Target </a:t>
            </a:r>
            <a:r>
              <a:rPr lang="en-US" dirty="0">
                <a:solidFill>
                  <a:srgbClr val="002060"/>
                </a:solidFill>
              </a:rPr>
              <a:t>aid to the countries that need it </a:t>
            </a:r>
            <a:r>
              <a:rPr lang="en-US" dirty="0" smtClean="0">
                <a:solidFill>
                  <a:srgbClr val="002060"/>
                </a:solidFill>
              </a:rPr>
              <a:t>most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Ensure </a:t>
            </a:r>
            <a:r>
              <a:rPr lang="en-US" dirty="0">
                <a:solidFill>
                  <a:srgbClr val="002060"/>
                </a:solidFill>
              </a:rPr>
              <a:t>maximum humanitarian impact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22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857</Words>
  <Application>Microsoft Office PowerPoint</Application>
  <PresentationFormat>Widescreen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Clustering of Countries for Strategic Aid Allocation</vt:lpstr>
      <vt:lpstr>Problem Statement</vt:lpstr>
      <vt:lpstr>Project Objective</vt:lpstr>
      <vt:lpstr>Dataset Overview</vt:lpstr>
      <vt:lpstr>Analysis Approach</vt:lpstr>
      <vt:lpstr>Exploratory Data Analysis (EDA)</vt:lpstr>
      <vt:lpstr>Choosing the Number of Clusters</vt:lpstr>
      <vt:lpstr>Clustering Models Used</vt:lpstr>
      <vt:lpstr>Cluster Visualization</vt:lpstr>
      <vt:lpstr>Cluster Analysis</vt:lpstr>
      <vt:lpstr>Countries Identified for Priority Aid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of Countries for Strategic Aid Allocation</dc:title>
  <dc:creator>User</dc:creator>
  <cp:lastModifiedBy>User</cp:lastModifiedBy>
  <cp:revision>18</cp:revision>
  <dcterms:created xsi:type="dcterms:W3CDTF">2026-03-11T13:16:06Z</dcterms:created>
  <dcterms:modified xsi:type="dcterms:W3CDTF">2026-03-12T13:54:51Z</dcterms:modified>
</cp:coreProperties>
</file>